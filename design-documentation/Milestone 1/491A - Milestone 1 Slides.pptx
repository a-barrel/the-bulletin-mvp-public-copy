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0672d1b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0672d1b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a39fad3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a39fad3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a39fad3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a39fad3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a39fad3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a39fad3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6f7ffc1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6f7ffc1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0672d1b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0672d1b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0672d1b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0672d1b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39ad1260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39ad1260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39ad126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39ad126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0672d1b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0672d1b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546e93b1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546e93b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4837b21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44837b21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effortlessly find local POIs (points of interest) and chat live with those nearby.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can ensure they are talking to people in their community and people too far to </a:t>
            </a:r>
            <a:r>
              <a:rPr lang="en"/>
              <a:t>realistically</a:t>
            </a:r>
            <a:r>
              <a:rPr lang="en"/>
              <a:t> be related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the opening of local </a:t>
            </a:r>
            <a:r>
              <a:rPr lang="en"/>
              <a:t>businesses (coffee shops and restaurants)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going somewhere new and wanting to find what is going 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44837b21a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44837b21a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7e25a3d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7e25a3d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slide - Citlally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0672d1be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0672d1be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10" Type="http://schemas.openxmlformats.org/officeDocument/2006/relationships/image" Target="../media/image8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.jpg"/><Relationship Id="rId7" Type="http://schemas.openxmlformats.org/officeDocument/2006/relationships/image" Target="../media/image1.jp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Relationship Id="rId5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jp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-paper-pin - Taves Family Farms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900" y="405899"/>
            <a:ext cx="4945275" cy="27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2090013" y="862188"/>
            <a:ext cx="4812600" cy="10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Bulletin™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 b="0" l="33730" r="41754" t="16569"/>
          <a:stretch/>
        </p:blipFill>
        <p:spPr>
          <a:xfrm>
            <a:off x="1708125" y="2395075"/>
            <a:ext cx="807624" cy="27484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94424" y="2184025"/>
            <a:ext cx="2427600" cy="4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Team Pinpoint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5">
            <a:alphaModFix/>
          </a:blip>
          <a:srcRect b="18206" l="18872" r="16183" t="6310"/>
          <a:stretch/>
        </p:blipFill>
        <p:spPr>
          <a:xfrm>
            <a:off x="5495675" y="2262550"/>
            <a:ext cx="1856649" cy="288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6">
            <a:alphaModFix/>
          </a:blip>
          <a:srcRect b="9781" l="3923" r="3748" t="7947"/>
          <a:stretch/>
        </p:blipFill>
        <p:spPr>
          <a:xfrm rot="4482791">
            <a:off x="934004" y="1594953"/>
            <a:ext cx="993442" cy="78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6">
            <a:alphaModFix/>
          </a:blip>
          <a:srcRect b="9781" l="3923" r="3748" t="7947"/>
          <a:stretch/>
        </p:blipFill>
        <p:spPr>
          <a:xfrm rot="5766023">
            <a:off x="6844009" y="1847489"/>
            <a:ext cx="585202" cy="46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408816">
            <a:off x="7116820" y="1879753"/>
            <a:ext cx="218942" cy="292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1027028">
            <a:off x="1084034" y="1629505"/>
            <a:ext cx="718536" cy="718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6">
            <a:alphaModFix/>
          </a:blip>
          <a:srcRect b="9781" l="3923" r="3748" t="7947"/>
          <a:stretch/>
        </p:blipFill>
        <p:spPr>
          <a:xfrm rot="6723517">
            <a:off x="1609397" y="378535"/>
            <a:ext cx="467073" cy="370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551577">
            <a:off x="1673687" y="405575"/>
            <a:ext cx="338464" cy="31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6">
            <a:alphaModFix/>
          </a:blip>
          <a:srcRect b="9781" l="3923" r="3748" t="7947"/>
          <a:stretch/>
        </p:blipFill>
        <p:spPr>
          <a:xfrm rot="5883067">
            <a:off x="7685104" y="2415703"/>
            <a:ext cx="993443" cy="78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801028">
            <a:off x="7909700" y="2459425"/>
            <a:ext cx="631200" cy="6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Char char="●"/>
            </a:pPr>
            <a:r>
              <a:rPr lang="en" sz="2000">
                <a:solidFill>
                  <a:srgbClr val="FFFF00"/>
                </a:solidFill>
              </a:rPr>
              <a:t>The Bulletin is a local social media app </a:t>
            </a:r>
            <a:br>
              <a:rPr lang="en" sz="2000">
                <a:solidFill>
                  <a:srgbClr val="FFFF00"/>
                </a:solidFill>
              </a:rPr>
            </a:br>
            <a:r>
              <a:rPr lang="en" sz="2000">
                <a:solidFill>
                  <a:srgbClr val="FFFF00"/>
                </a:solidFill>
              </a:rPr>
              <a:t>designed from the ground up to allow</a:t>
            </a:r>
            <a:br>
              <a:rPr lang="en" sz="2000">
                <a:solidFill>
                  <a:srgbClr val="FFFF00"/>
                </a:solidFill>
              </a:rPr>
            </a:br>
            <a:r>
              <a:rPr lang="en" sz="2000">
                <a:solidFill>
                  <a:srgbClr val="FFFF00"/>
                </a:solidFill>
              </a:rPr>
              <a:t>users to freely express themselves.</a:t>
            </a:r>
            <a:endParaRPr sz="20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2000"/>
              <a:buChar char="●"/>
            </a:pPr>
            <a:r>
              <a:rPr lang="en" sz="2000">
                <a:solidFill>
                  <a:srgbClr val="FFFF00"/>
                </a:solidFill>
              </a:rPr>
              <a:t>The goal is to facilitate spontaneous </a:t>
            </a:r>
            <a:br>
              <a:rPr lang="en" sz="2000">
                <a:solidFill>
                  <a:srgbClr val="FFFF00"/>
                </a:solidFill>
              </a:rPr>
            </a:br>
            <a:r>
              <a:rPr lang="en" sz="2000">
                <a:solidFill>
                  <a:srgbClr val="FFFF00"/>
                </a:solidFill>
              </a:rPr>
              <a:t>local collaboration by allowing users to </a:t>
            </a:r>
            <a:br>
              <a:rPr lang="en" sz="2000">
                <a:solidFill>
                  <a:srgbClr val="FFFF00"/>
                </a:solidFill>
              </a:rPr>
            </a:br>
            <a:r>
              <a:rPr lang="en" sz="2000">
                <a:solidFill>
                  <a:srgbClr val="FFFF00"/>
                </a:solidFill>
              </a:rPr>
              <a:t>contribute events and discussion within </a:t>
            </a:r>
            <a:br>
              <a:rPr lang="en" sz="2000">
                <a:solidFill>
                  <a:srgbClr val="FFFF00"/>
                </a:solidFill>
              </a:rPr>
            </a:br>
            <a:r>
              <a:rPr lang="en" sz="2000">
                <a:solidFill>
                  <a:srgbClr val="FFFF00"/>
                </a:solidFill>
              </a:rPr>
              <a:t>a local area using location services.</a:t>
            </a:r>
            <a:endParaRPr sz="2000">
              <a:solidFill>
                <a:srgbClr val="FFFF00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750" y="1310649"/>
            <a:ext cx="2869300" cy="28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aren’t we all famous?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687325"/>
            <a:ext cx="76200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Magnus Carlsen so good at chess?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8313" y="1116450"/>
            <a:ext cx="572737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procrastinate?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513" y="1148875"/>
            <a:ext cx="382097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 Statement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162400" y="1017725"/>
            <a:ext cx="3669900" cy="27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FFFF00"/>
                </a:solidFill>
              </a:rPr>
              <a:t>Our team’s vision is to bring communities </a:t>
            </a:r>
            <a:r>
              <a:rPr b="1" lang="en" sz="2500">
                <a:solidFill>
                  <a:srgbClr val="FFFF00"/>
                </a:solidFill>
              </a:rPr>
              <a:t>closer together</a:t>
            </a:r>
            <a:r>
              <a:rPr lang="en" sz="2500">
                <a:solidFill>
                  <a:srgbClr val="FFFF00"/>
                </a:solidFill>
              </a:rPr>
              <a:t>; to bring it back to a time of forums and local gossip of the old internet.</a:t>
            </a:r>
            <a:endParaRPr sz="2500"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50" y="1125425"/>
            <a:ext cx="3110050" cy="20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375" y="3064300"/>
            <a:ext cx="37338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Introduction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1589475" y="1017725"/>
            <a:ext cx="440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33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Andy Hoang</a:t>
            </a:r>
            <a:endParaRPr sz="6600">
              <a:solidFill>
                <a:srgbClr val="FFFF00"/>
              </a:solidFill>
            </a:endParaRPr>
          </a:p>
          <a:p>
            <a:pPr indent="-3333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Developer</a:t>
            </a:r>
            <a:endParaRPr baseline="30000" sz="6600">
              <a:solidFill>
                <a:srgbClr val="FFFF00"/>
              </a:solidFill>
            </a:endParaRPr>
          </a:p>
          <a:p>
            <a:pPr indent="-333375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Citlally Vasquez</a:t>
            </a:r>
            <a:endParaRPr sz="6600">
              <a:solidFill>
                <a:srgbClr val="FFFF00"/>
              </a:solidFill>
            </a:endParaRPr>
          </a:p>
          <a:p>
            <a:pPr indent="-333375" lvl="1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UI/UX Designer and Web developer</a:t>
            </a:r>
            <a:endParaRPr baseline="30000" sz="6600">
              <a:solidFill>
                <a:srgbClr val="FFFF00"/>
              </a:solidFill>
            </a:endParaRPr>
          </a:p>
          <a:p>
            <a:pPr indent="-3333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Darrel Dennis</a:t>
            </a:r>
            <a:endParaRPr sz="6600">
              <a:solidFill>
                <a:srgbClr val="FFFF00"/>
              </a:solidFill>
            </a:endParaRPr>
          </a:p>
          <a:p>
            <a:pPr indent="-33337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QA Specialist</a:t>
            </a:r>
            <a:endParaRPr baseline="30000" sz="6600">
              <a:solidFill>
                <a:srgbClr val="FFFF00"/>
              </a:solidFill>
            </a:endParaRPr>
          </a:p>
          <a:p>
            <a:pPr indent="-333375" lvl="0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Max Ju</a:t>
            </a:r>
            <a:endParaRPr sz="6600">
              <a:solidFill>
                <a:srgbClr val="FFFF00"/>
              </a:solidFill>
            </a:endParaRPr>
          </a:p>
          <a:p>
            <a:pPr indent="-333375" lvl="1" marL="160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Developer</a:t>
            </a:r>
            <a:endParaRPr baseline="30000" sz="6600">
              <a:solidFill>
                <a:srgbClr val="FFFF00"/>
              </a:solidFill>
            </a:endParaRPr>
          </a:p>
          <a:p>
            <a:pPr indent="-333375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Troy Waters</a:t>
            </a:r>
            <a:endParaRPr sz="6600">
              <a:solidFill>
                <a:srgbClr val="FFFF00"/>
              </a:solidFill>
            </a:endParaRPr>
          </a:p>
          <a:p>
            <a:pPr indent="-333375" lvl="1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Cybersecurity and Database Management</a:t>
            </a:r>
            <a:endParaRPr baseline="30000" sz="6600">
              <a:solidFill>
                <a:srgbClr val="FFFF00"/>
              </a:solidFill>
            </a:endParaRPr>
          </a:p>
          <a:p>
            <a:pPr indent="-333375" lvl="0" marL="160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 sz="6600">
                <a:solidFill>
                  <a:srgbClr val="FFFF00"/>
                </a:solidFill>
              </a:rPr>
              <a:t>Wai Soltow</a:t>
            </a:r>
            <a:endParaRPr sz="6600">
              <a:solidFill>
                <a:srgbClr val="FFFF00"/>
              </a:solidFill>
            </a:endParaRPr>
          </a:p>
          <a:p>
            <a:pPr indent="-333375" lvl="1" marL="2057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○"/>
            </a:pPr>
            <a:r>
              <a:rPr baseline="30000" lang="en" sz="6600">
                <a:solidFill>
                  <a:srgbClr val="FFFF00"/>
                </a:solidFill>
              </a:rPr>
              <a:t>Developer</a:t>
            </a:r>
            <a:endParaRPr baseline="30000" sz="66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Ok… but what does it actually do?</a:t>
            </a:r>
            <a:endParaRPr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017725"/>
            <a:ext cx="3327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Char char="●"/>
            </a:pPr>
            <a:r>
              <a:rPr lang="en" sz="2000">
                <a:solidFill>
                  <a:srgbClr val="FFFF00"/>
                </a:solidFill>
              </a:rPr>
              <a:t>Core features:</a:t>
            </a:r>
            <a:endParaRPr sz="2000">
              <a:solidFill>
                <a:srgbClr val="FFFF00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700"/>
              <a:buChar char="○"/>
            </a:pPr>
            <a:r>
              <a:rPr lang="en" sz="1700">
                <a:solidFill>
                  <a:srgbClr val="FFFF00"/>
                </a:solidFill>
              </a:rPr>
              <a:t>Attaching “post” to real, localized areas for other nearby users to read and reply to.</a:t>
            </a:r>
            <a:endParaRPr sz="1700">
              <a:solidFill>
                <a:srgbClr val="FFFF00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00"/>
              </a:solidFill>
            </a:endParaRPr>
          </a:p>
          <a:p>
            <a:pPr indent="-33655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700"/>
              <a:buChar char="○"/>
            </a:pPr>
            <a:r>
              <a:rPr lang="en" sz="1700">
                <a:solidFill>
                  <a:srgbClr val="FFFF00"/>
                </a:solidFill>
              </a:rPr>
              <a:t>Live chat to facilitate real-time communication in areas where post may not be the most streamlined option. </a:t>
            </a:r>
            <a:endParaRPr sz="17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 </a:t>
            </a:r>
            <a:endParaRPr sz="2000"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575" y="1279250"/>
            <a:ext cx="5287401" cy="32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6624" y="1197014"/>
            <a:ext cx="3327300" cy="332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With a little imagination… THAT SOUNDS LIKE A DISASTER!</a:t>
            </a:r>
            <a:endParaRPr sz="2320"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066125" y="1152475"/>
            <a:ext cx="49155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lang="en">
                <a:solidFill>
                  <a:srgbClr val="FFFF00"/>
                </a:solidFill>
              </a:rPr>
              <a:t>In our quest to figure out how to develop these tools… we come across an immediate issue: how they’re used.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-351354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b="1" i="1" lang="en" sz="2274" u="sng">
                <a:solidFill>
                  <a:srgbClr val="FFFF00"/>
                </a:solidFill>
              </a:rPr>
              <a:t>Automated moderation</a:t>
            </a:r>
            <a:r>
              <a:rPr lang="en" sz="2274">
                <a:solidFill>
                  <a:srgbClr val="FFFF00"/>
                </a:solidFill>
              </a:rPr>
              <a:t> is our top priority once servers are deployable</a:t>
            </a:r>
            <a:endParaRPr sz="2274"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74">
              <a:solidFill>
                <a:srgbClr val="FFFF00"/>
              </a:solidFill>
            </a:endParaRPr>
          </a:p>
          <a:p>
            <a:pPr indent="-351354" lvl="0" marL="457200" rtl="0" algn="l"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ct val="100000"/>
              <a:buChar char="●"/>
            </a:pPr>
            <a:r>
              <a:rPr b="1" i="1" lang="en" sz="2274" u="sng">
                <a:solidFill>
                  <a:srgbClr val="FFFF00"/>
                </a:solidFill>
              </a:rPr>
              <a:t>Generalizing Locations </a:t>
            </a:r>
            <a:r>
              <a:rPr lang="en" sz="2274">
                <a:solidFill>
                  <a:srgbClr val="FFFF00"/>
                </a:solidFill>
              </a:rPr>
              <a:t>: Yes, we want to streamline local communication, but not dox ourselves!</a:t>
            </a:r>
            <a:endParaRPr sz="2274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500" y="1152475"/>
            <a:ext cx="2076124" cy="207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1100" y="3228600"/>
            <a:ext cx="2419350" cy="1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1625" y="1152475"/>
            <a:ext cx="1383000" cy="207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So who’s our target audience?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11700" y="1152475"/>
            <a:ext cx="349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The nature of this project gives us a wide range of potential users: People new to the area, local for discovering communities with similar hobbies, and finding events you didn’t know exist!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Local Arcade meet up? Sure!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00"/>
                </a:solidFill>
              </a:rPr>
              <a:t>Town Hall Events? I didn’t know they had those, I’m down!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0175" y="381800"/>
            <a:ext cx="2755900" cy="27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725" y="3137700"/>
            <a:ext cx="2290801" cy="17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can The Bulletin be used?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644600" y="1152475"/>
            <a:ext cx="418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00"/>
                </a:solidFill>
              </a:rPr>
              <a:t>The Bulletin can be used worldwide, by anyone with a </a:t>
            </a:r>
            <a:r>
              <a:rPr lang="en" sz="2000">
                <a:solidFill>
                  <a:srgbClr val="FFFF00"/>
                </a:solidFill>
              </a:rPr>
              <a:t>smart </a:t>
            </a:r>
            <a:r>
              <a:rPr lang="en" sz="2000">
                <a:solidFill>
                  <a:srgbClr val="FFFF00"/>
                </a:solidFill>
              </a:rPr>
              <a:t>device and an internet connection!</a:t>
            </a:r>
            <a:endParaRPr sz="20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FFFF00"/>
                </a:solidFill>
              </a:rPr>
              <a:t>However, we will prioritize on developing a core user base in the United States due to an English-speaking audience and the </a:t>
            </a:r>
            <a:r>
              <a:rPr lang="en" sz="2000">
                <a:solidFill>
                  <a:srgbClr val="FFFF00"/>
                </a:solidFill>
              </a:rPr>
              <a:t>fact</a:t>
            </a:r>
            <a:r>
              <a:rPr lang="en" sz="2000">
                <a:solidFill>
                  <a:srgbClr val="FFFF00"/>
                </a:solidFill>
              </a:rPr>
              <a:t> that no good social community app exists!*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01" y="1749651"/>
            <a:ext cx="4247199" cy="2389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736700" y="4890575"/>
            <a:ext cx="4095600" cy="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000">
                <a:solidFill>
                  <a:srgbClr val="FFFF00"/>
                </a:solidFill>
              </a:rPr>
              <a:t>*See next slide</a:t>
            </a:r>
            <a:endParaRPr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Competitors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925" y="1017738"/>
            <a:ext cx="1471950" cy="14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2024" y="1017725"/>
            <a:ext cx="1471953" cy="1471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0" y="2530725"/>
            <a:ext cx="4405800" cy="26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</a:rPr>
              <a:t>Pros: </a:t>
            </a:r>
            <a:endParaRPr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500"/>
              <a:buChar char="●"/>
            </a:pPr>
            <a:r>
              <a:rPr lang="en" sz="1500">
                <a:solidFill>
                  <a:srgbClr val="FFFF00"/>
                </a:solidFill>
              </a:rPr>
              <a:t>Focused on local neighborhood groups</a:t>
            </a:r>
            <a:endParaRPr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500"/>
              <a:buChar char="●"/>
            </a:pPr>
            <a:r>
              <a:rPr lang="en" sz="1500">
                <a:solidFill>
                  <a:srgbClr val="FFFF00"/>
                </a:solidFill>
              </a:rPr>
              <a:t>Has built-in tools to mail invites and give certain messages/posts urgency</a:t>
            </a:r>
            <a:endParaRPr sz="1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</a:rPr>
              <a:t>Cons: </a:t>
            </a:r>
            <a:endParaRPr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500"/>
              <a:buChar char="●"/>
            </a:pPr>
            <a:r>
              <a:rPr lang="en" sz="1500">
                <a:solidFill>
                  <a:srgbClr val="FFFF00"/>
                </a:solidFill>
              </a:rPr>
              <a:t>Private groups require constant moderation</a:t>
            </a:r>
            <a:endParaRPr sz="1500">
              <a:solidFill>
                <a:srgbClr val="FFFF00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500"/>
              <a:buChar char="●"/>
            </a:pPr>
            <a:r>
              <a:rPr lang="en" sz="1500">
                <a:solidFill>
                  <a:srgbClr val="FFFF00"/>
                </a:solidFill>
              </a:rPr>
              <a:t>Full of people nagging about their neighbors and nothing else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4572000" y="2530725"/>
            <a:ext cx="4572000" cy="26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600">
                <a:solidFill>
                  <a:srgbClr val="FFFF00"/>
                </a:solidFill>
              </a:rPr>
              <a:t>Pros: </a:t>
            </a:r>
            <a:endParaRPr sz="1600">
              <a:solidFill>
                <a:srgbClr val="FFFF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Massive user-base</a:t>
            </a:r>
            <a:endParaRPr sz="1600">
              <a:solidFill>
                <a:srgbClr val="FFFF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Has built-in tools for mailing lists, scheduling posts/events, livestreams, etc.</a:t>
            </a:r>
            <a:endParaRPr sz="16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865"/>
              <a:buNone/>
            </a:pPr>
            <a:r>
              <a:rPr lang="en" sz="1600">
                <a:solidFill>
                  <a:srgbClr val="FFFF00"/>
                </a:solidFill>
              </a:rPr>
              <a:t>Cons: </a:t>
            </a:r>
            <a:endParaRPr sz="1600">
              <a:solidFill>
                <a:srgbClr val="FFFF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Filled to the brims with advertisements</a:t>
            </a:r>
            <a:endParaRPr sz="1600">
              <a:solidFill>
                <a:srgbClr val="FFFF0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Char char="●"/>
            </a:pPr>
            <a:r>
              <a:rPr lang="en" sz="1600">
                <a:solidFill>
                  <a:srgbClr val="FFFF00"/>
                </a:solidFill>
              </a:rPr>
              <a:t>Privacy concerns due to its parent company, Meta</a:t>
            </a:r>
            <a:endParaRPr sz="16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Location based feeds ensure users are never too far to points of interest (POIs).</a:t>
            </a:r>
            <a:br>
              <a:rPr lang="en">
                <a:solidFill>
                  <a:srgbClr val="FFFF00"/>
                </a:solidFill>
              </a:rPr>
            </a:b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Timed user generated POIs will help share and discuss current or upcoming events.</a:t>
            </a:r>
            <a:endParaRPr>
              <a:solidFill>
                <a:srgbClr val="FF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Char char="○"/>
            </a:pPr>
            <a:r>
              <a:rPr lang="en">
                <a:solidFill>
                  <a:srgbClr val="FFFF00"/>
                </a:solidFill>
              </a:rPr>
              <a:t>Store sales</a:t>
            </a:r>
            <a:endParaRPr>
              <a:solidFill>
                <a:srgbClr val="FF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Char char="○"/>
            </a:pPr>
            <a:r>
              <a:rPr lang="en">
                <a:solidFill>
                  <a:srgbClr val="FFFF00"/>
                </a:solidFill>
              </a:rPr>
              <a:t>Public events</a:t>
            </a:r>
            <a:endParaRPr>
              <a:solidFill>
                <a:srgbClr val="FF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Char char="○"/>
            </a:pPr>
            <a:r>
              <a:rPr lang="en">
                <a:solidFill>
                  <a:srgbClr val="FFFF00"/>
                </a:solidFill>
              </a:rPr>
              <a:t>Swap meets</a:t>
            </a:r>
            <a:endParaRPr>
              <a:solidFill>
                <a:srgbClr val="FFFF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400"/>
              <a:buChar char="○"/>
            </a:pPr>
            <a:r>
              <a:rPr lang="en">
                <a:solidFill>
                  <a:srgbClr val="FFFF00"/>
                </a:solidFill>
              </a:rPr>
              <a:t>Conventions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Entrepreneurial Context - Value Proposition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 rotWithShape="1">
          <a:blip r:embed="rId3">
            <a:alphaModFix amt="75000"/>
          </a:blip>
          <a:srcRect b="0" l="0" r="50127" t="0"/>
          <a:stretch/>
        </p:blipFill>
        <p:spPr>
          <a:xfrm>
            <a:off x="4895021" y="2536825"/>
            <a:ext cx="1381657" cy="1194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rgbClr val="000000">
                <a:alpha val="50000"/>
              </a:srgbClr>
            </a:outerShdw>
          </a:effectLst>
        </p:spPr>
      </p:pic>
      <p:pic>
        <p:nvPicPr>
          <p:cNvPr id="155" name="Google Shape;155;p25"/>
          <p:cNvPicPr preferRelativeResize="0"/>
          <p:nvPr/>
        </p:nvPicPr>
        <p:blipFill>
          <a:blip r:embed="rId4">
            <a:alphaModFix amt="56000"/>
          </a:blip>
          <a:stretch>
            <a:fillRect/>
          </a:stretch>
        </p:blipFill>
        <p:spPr>
          <a:xfrm rot="899998">
            <a:off x="5076545" y="1816463"/>
            <a:ext cx="1018609" cy="7148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6" name="Google Shape;15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00037">
            <a:off x="7333966" y="1277844"/>
            <a:ext cx="1629667" cy="1143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2500" y="2275253"/>
            <a:ext cx="1397275" cy="2369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FFFFFF">
                <a:alpha val="35000"/>
              </a:srgbClr>
            </a:outerShdw>
          </a:effectLst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7">
            <a:alphaModFix/>
          </a:blip>
          <a:srcRect b="0" l="50127" r="0" t="0"/>
          <a:stretch/>
        </p:blipFill>
        <p:spPr>
          <a:xfrm>
            <a:off x="7268700" y="2465525"/>
            <a:ext cx="1722900" cy="14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>
            <p:ph type="title"/>
          </p:nvPr>
        </p:nvSpPr>
        <p:spPr>
          <a:xfrm rot="-899818">
            <a:off x="7064764" y="834763"/>
            <a:ext cx="1722779" cy="5727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9D9D9"/>
                </a:solidFill>
              </a:rPr>
              <a:t>FARMERS MARKET</a:t>
            </a:r>
            <a:br>
              <a:rPr lang="en" sz="1200">
                <a:solidFill>
                  <a:srgbClr val="D9D9D9"/>
                </a:solidFill>
              </a:rPr>
            </a:br>
            <a:r>
              <a:rPr lang="en" sz="1200">
                <a:solidFill>
                  <a:srgbClr val="D9D9D9"/>
                </a:solidFill>
              </a:rPr>
              <a:t>In 3 days.</a:t>
            </a:r>
            <a:endParaRPr sz="1200">
              <a:solidFill>
                <a:srgbClr val="D9D9D9"/>
              </a:solidFill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 rot="899818">
            <a:off x="4934615" y="1307070"/>
            <a:ext cx="1722779" cy="572707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</a:rPr>
              <a:t>491A SLIDES</a:t>
            </a:r>
            <a:br>
              <a:rPr lang="en" sz="1200">
                <a:solidFill>
                  <a:srgbClr val="B7B7B7"/>
                </a:solidFill>
              </a:rPr>
            </a:br>
            <a:r>
              <a:rPr lang="en" sz="1200">
                <a:solidFill>
                  <a:srgbClr val="B7B7B7"/>
                </a:solidFill>
              </a:rPr>
              <a:t>Happening now!</a:t>
            </a:r>
            <a:endParaRPr sz="12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Entrepreneurial Context - Monetization Strategy</a:t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We have a few ways we plan to monetize the app, such as:</a:t>
            </a:r>
            <a:endParaRPr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>
                <a:solidFill>
                  <a:schemeClr val="accent6"/>
                </a:solidFill>
              </a:rPr>
              <a:t>Advertisements from both local and big businesses</a:t>
            </a:r>
            <a:endParaRPr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>
                <a:solidFill>
                  <a:schemeClr val="accent6"/>
                </a:solidFill>
              </a:rPr>
              <a:t>In-app purchases for cosmetics for your profile</a:t>
            </a:r>
            <a:endParaRPr>
              <a:solidFill>
                <a:schemeClr val="accent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>
                <a:solidFill>
                  <a:schemeClr val="accent6"/>
                </a:solidFill>
              </a:rPr>
              <a:t>Optional monthly subscription to remove </a:t>
            </a:r>
            <a:r>
              <a:rPr lang="en">
                <a:solidFill>
                  <a:schemeClr val="accent6"/>
                </a:solidFill>
              </a:rPr>
              <a:t>advertisements</a:t>
            </a:r>
            <a:r>
              <a:rPr lang="en">
                <a:solidFill>
                  <a:schemeClr val="accent6"/>
                </a:solidFill>
              </a:rPr>
              <a:t> (and more!)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200" y="1446749"/>
            <a:ext cx="3540199" cy="225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 does this all mean?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190625" y="1115825"/>
            <a:ext cx="4653900" cy="36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</a:pPr>
            <a:r>
              <a:rPr lang="en" sz="2000">
                <a:solidFill>
                  <a:schemeClr val="accent6"/>
                </a:solidFill>
              </a:rPr>
              <a:t>The Bulletin will be an interactive online forum for locals of all ages to have fun, interact, and engage in the community!</a:t>
            </a:r>
            <a:endParaRPr sz="2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6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●"/>
            </a:pPr>
            <a:r>
              <a:rPr lang="en" sz="2000">
                <a:solidFill>
                  <a:schemeClr val="accent6"/>
                </a:solidFill>
              </a:rPr>
              <a:t>Won’t be like those other boring neighborhood apps, will keep users up to date, and will offer in-app cosmetics for personalization</a:t>
            </a:r>
            <a:endParaRPr sz="2000">
              <a:solidFill>
                <a:schemeClr val="accent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96200" y="4192350"/>
            <a:ext cx="3668700" cy="4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100">
                <a:solidFill>
                  <a:srgbClr val="FF7141"/>
                </a:solidFill>
              </a:rPr>
              <a:t>“The streets talk, we listen”</a:t>
            </a:r>
            <a:endParaRPr i="1" sz="2100">
              <a:solidFill>
                <a:srgbClr val="FF7141"/>
              </a:solidFill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125" y="445025"/>
            <a:ext cx="2922549" cy="19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8750" y="2294150"/>
            <a:ext cx="2812345" cy="177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Got </a:t>
            </a: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